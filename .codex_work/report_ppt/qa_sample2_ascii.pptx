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4a6435223431d" /><Relationship Type="http://schemas.openxmlformats.org/officeDocument/2006/relationships/extended-properties" Target="/docProps/app.xml" Id="Re82ea8a9751e4e07" /><Relationship Type="http://schemas.openxmlformats.org/officeDocument/2006/relationships/officeDocument" Target="/ppt/presentation.xml" Id="Rbae79ef14430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0d199a48274e54"/>
  </p:sldMasterIdLst>
  <p:notesMasterIdLst>
    <p:notesMasterId xmlns:r="http://schemas.openxmlformats.org/officeDocument/2006/relationships" r:id="R84d97aec75164a52"/>
  </p:notesMasterIdLst>
  <p:sldIdLst>
    <p:sldId xmlns:r="http://schemas.openxmlformats.org/officeDocument/2006/relationships" id="256" r:id="R8f09ebd4888c4856"/>
    <p:sldId xmlns:r="http://schemas.openxmlformats.org/officeDocument/2006/relationships" id="257" r:id="R25f9f2e7dcf748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ccc8baf74f4a0e" /><Relationship Type="http://schemas.openxmlformats.org/officeDocument/2006/relationships/slideMaster" Target="/ppt/slideMasters/slideMaster1.xml" Id="Rb10d199a48274e54" /><Relationship Type="http://schemas.openxmlformats.org/officeDocument/2006/relationships/notesMaster" Target="/ppt/notesMasters/notesMaster1.xml" Id="R84d97aec75164a52" /><Relationship Type="http://schemas.openxmlformats.org/officeDocument/2006/relationships/presProps" Target="/ppt/presProps.xml" Id="R3a2a4dae269b4afe" /><Relationship Type="http://schemas.openxmlformats.org/officeDocument/2006/relationships/tableStyles" Target="/ppt/tableStyles.xml" Id="R9764f8594a2d401c" /><Relationship Type="http://schemas.openxmlformats.org/officeDocument/2006/relationships/slide" Target="/ppt/slides/slide1.xml" Id="R8f09ebd4888c4856" /><Relationship Type="http://schemas.openxmlformats.org/officeDocument/2006/relationships/slide" Target="/ppt/slides/slide2.xml" Id="R25f9f2e7dcf748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1afae906c149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4eef3d27184b49" /><Relationship Type="http://schemas.openxmlformats.org/officeDocument/2006/relationships/notesMaster" Target="/ppt/notesMasters/notesMaster1.xml" Id="Rdba964dc5ac24d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e64a786704df6" /><Relationship Type="http://schemas.openxmlformats.org/officeDocument/2006/relationships/notesMaster" Target="/ppt/notesMasters/notesMaster1.xml" Id="R23434546c5b740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Report.xlsx — Sheet1!A1:J7 — داده‌های ارائه‌شده توسط کاربر.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Report.xlsx — Sheet1!A1:J7 — داده‌های ارائه‌شده توسط کاربر.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مبالغ حق‌القدم بر حسب میلیون تومان است؛ ائمه جماعت همکار مبلغ صفر دارند.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fcf3dcef442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4bc09e47048cd" /><Relationship Type="http://schemas.openxmlformats.org/officeDocument/2006/relationships/slideLayout" Target="/ppt/slideLayouts/slideLayout1.xml" Id="R8e204cb635734e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04cb635734e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76a3bddb406f" /><Relationship Type="http://schemas.openxmlformats.org/officeDocument/2006/relationships/notesSlide" Target="/ppt/notesSlides/notesSlide1.xml" Id="R09fcbc35f52544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c792f5abb4391" /><Relationship Type="http://schemas.openxmlformats.org/officeDocument/2006/relationships/notesSlide" Target="/ppt/notesSlides/notesSlide2.xml" Id="R0d0c9eaa16154e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2F7A7460-A509-4B79-A12F-DAF3E948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تابعه ادارات نمازخانه‌های وضعیت گزارش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457E5A-4671-44FF-9164-12B48A74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"/>
            <a:ext cx="1079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انتظام و مشارکت بر تمرکز مناسب؛ زیرساخت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8547461-7821-4951-9F56-77E64BC4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summary-copy">
            <a:extLst xmlns:a="http://schemas.openxmlformats.org/drawingml/2006/main">
              <a:ext uri="{FF2B5EF4-FFF2-40B4-BE49-F238E27FC236}">
                <a16:creationId xmlns:a16="http://schemas.microsoft.com/office/drawing/2014/main" id="{B62123C9-5ACC-47B2-992F-470495D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90700"/>
            <a:ext cx="98393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است. شده ثبت فرهنگی فعالیت و اذان منظم پخش اداره ۶ هر در</a:t>
            </a:r>
          </a:p>
          <a:p xmlns:a="http://schemas.openxmlformats.org/drawingml/2006/main">
            <a:pPr algn="r">
              <a:defRPr sz="180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است. شده گزارش گاه‌به‌گاه اداره یک در و مستمر اداره ۵ در مدیران حضور</a:t>
            </a:r>
          </a:p>
        </p:txBody>
      </p:sp>
      <p:sp>
        <p:nvSpPr>
          <p:cNvPr id="5" name="metric-panel-42">
            <a:extLst xmlns:a="http://schemas.openxmlformats.org/drawingml/2006/main">
              <a:ext uri="{FF2B5EF4-FFF2-40B4-BE49-F238E27FC236}">
                <a16:creationId xmlns:a16="http://schemas.microsoft.com/office/drawing/2014/main" id="{3E9939A5-8541-46DD-B92C-1B56355A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3562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accent-42">
            <a:extLst xmlns:a="http://schemas.openxmlformats.org/drawingml/2006/main">
              <a:ext uri="{FF2B5EF4-FFF2-40B4-BE49-F238E27FC236}">
                <a16:creationId xmlns:a16="http://schemas.microsoft.com/office/drawing/2014/main" id="{5B1EBF10-FC2F-41CE-8C28-A86E99DC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3562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number-42">
            <a:extLst xmlns:a="http://schemas.openxmlformats.org/drawingml/2006/main">
              <a:ext uri="{FF2B5EF4-FFF2-40B4-BE49-F238E27FC236}">
                <a16:creationId xmlns:a16="http://schemas.microsoft.com/office/drawing/2014/main" id="{010A734A-2BC0-4A05-A8F9-18B8FD3E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۶۰</a:t>
            </a:r>
          </a:p>
        </p:txBody>
      </p:sp>
      <p:sp>
        <p:nvSpPr>
          <p:cNvPr id="8" name="metric-headline-42">
            <a:extLst xmlns:a="http://schemas.openxmlformats.org/drawingml/2006/main">
              <a:ext uri="{FF2B5EF4-FFF2-40B4-BE49-F238E27FC236}">
                <a16:creationId xmlns:a16="http://schemas.microsoft.com/office/drawing/2014/main" id="{93260E37-76F1-4B80-8648-746E0DB1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06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نمازخانه فضای میانگین مترمربع؛</a:t>
            </a:r>
          </a:p>
        </p:txBody>
      </p:sp>
      <p:sp>
        <p:nvSpPr>
          <p:cNvPr id="9" name="metric-detail-42">
            <a:extLst xmlns:a="http://schemas.openxmlformats.org/drawingml/2006/main">
              <a:ext uri="{FF2B5EF4-FFF2-40B4-BE49-F238E27FC236}">
                <a16:creationId xmlns:a16="http://schemas.microsoft.com/office/drawing/2014/main" id="{45F134E4-7CCA-4F79-B394-55495A32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مترمربع ۸۰ تا ۵۰ ثبت‌شده: دامنه</a:t>
            </a:r>
          </a:p>
        </p:txBody>
      </p:sp>
      <p:sp>
        <p:nvSpPr>
          <p:cNvPr id="10" name="metric-panel-453">
            <a:extLst xmlns:a="http://schemas.openxmlformats.org/drawingml/2006/main">
              <a:ext uri="{FF2B5EF4-FFF2-40B4-BE49-F238E27FC236}">
                <a16:creationId xmlns:a16="http://schemas.microsoft.com/office/drawing/2014/main" id="{9A43187D-5BA4-43F8-9E1A-28647A45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24200"/>
            <a:ext cx="3562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accent-453">
            <a:extLst xmlns:a="http://schemas.openxmlformats.org/drawingml/2006/main">
              <a:ext uri="{FF2B5EF4-FFF2-40B4-BE49-F238E27FC236}">
                <a16:creationId xmlns:a16="http://schemas.microsoft.com/office/drawing/2014/main" id="{97A80C2D-E2DD-4707-9937-1D1DADB4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24200"/>
            <a:ext cx="3562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number-453">
            <a:extLst xmlns:a="http://schemas.openxmlformats.org/drawingml/2006/main">
              <a:ext uri="{FF2B5EF4-FFF2-40B4-BE49-F238E27FC236}">
                <a16:creationId xmlns:a16="http://schemas.microsoft.com/office/drawing/2014/main" id="{4BBA7E42-E710-4A73-A15C-BD3C871C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6710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۴</a:t>
            </a:r>
          </a:p>
        </p:txBody>
      </p:sp>
      <p:sp>
        <p:nvSpPr>
          <p:cNvPr id="13" name="metric-headline-453">
            <a:extLst xmlns:a="http://schemas.openxmlformats.org/drawingml/2006/main">
              <a:ext uri="{FF2B5EF4-FFF2-40B4-BE49-F238E27FC236}">
                <a16:creationId xmlns:a16="http://schemas.microsoft.com/office/drawing/2014/main" id="{F8150079-306D-419A-913F-DB70A4EB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243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71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روزانه حضور با اداره</a:t>
            </a:r>
          </a:p>
          <a:p xmlns:a="http://schemas.openxmlformats.org/drawingml/2006/main">
            <a:pPr algn="r">
              <a:defRPr sz="172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جماعت امام</a:t>
            </a:r>
          </a:p>
        </p:txBody>
      </p:sp>
      <p:sp>
        <p:nvSpPr>
          <p:cNvPr id="14" name="metric-detail-453">
            <a:extLst xmlns:a="http://schemas.openxmlformats.org/drawingml/2006/main">
              <a:ext uri="{FF2B5EF4-FFF2-40B4-BE49-F238E27FC236}">
                <a16:creationId xmlns:a16="http://schemas.microsoft.com/office/drawing/2014/main" id="{9818A98E-E06A-4ABE-B88F-13B9BD0B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8577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نامنظم ۲: اداره</a:t>
            </a:r>
          </a:p>
          <a:p xmlns:a="http://schemas.openxmlformats.org/drawingml/2006/main">
            <a:pPr algn="r">
              <a:defRPr sz="13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گاه‌به‌گاه ۶: اداره</a:t>
            </a:r>
          </a:p>
        </p:txBody>
      </p:sp>
      <p:sp>
        <p:nvSpPr>
          <p:cNvPr id="15" name="metric-panel-864">
            <a:extLst xmlns:a="http://schemas.openxmlformats.org/drawingml/2006/main">
              <a:ext uri="{FF2B5EF4-FFF2-40B4-BE49-F238E27FC236}">
                <a16:creationId xmlns:a16="http://schemas.microsoft.com/office/drawing/2014/main" id="{9CCAAA3A-6031-4D75-BEF6-2D070E71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24200"/>
            <a:ext cx="3562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accent-864">
            <a:extLst xmlns:a="http://schemas.openxmlformats.org/drawingml/2006/main">
              <a:ext uri="{FF2B5EF4-FFF2-40B4-BE49-F238E27FC236}">
                <a16:creationId xmlns:a16="http://schemas.microsoft.com/office/drawing/2014/main" id="{2E846E02-91F1-4EBA-8CAE-DA2565AC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24200"/>
            <a:ext cx="3562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number-864">
            <a:extLst xmlns:a="http://schemas.openxmlformats.org/drawingml/2006/main">
              <a:ext uri="{FF2B5EF4-FFF2-40B4-BE49-F238E27FC236}">
                <a16:creationId xmlns:a16="http://schemas.microsoft.com/office/drawing/2014/main" id="{DEA1B76A-1867-4092-AA95-8F5CFF25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6710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۴</a:t>
            </a:r>
          </a:p>
        </p:txBody>
      </p:sp>
      <p:sp>
        <p:nvSpPr>
          <p:cNvPr id="18" name="metric-headline-864">
            <a:extLst xmlns:a="http://schemas.openxmlformats.org/drawingml/2006/main">
              <a:ext uri="{FF2B5EF4-FFF2-40B4-BE49-F238E27FC236}">
                <a16:creationId xmlns:a16="http://schemas.microsoft.com/office/drawing/2014/main" id="{023F666E-0BB3-4927-93E9-CA88FC98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مدعو جماعت امام</a:t>
            </a:r>
          </a:p>
        </p:txBody>
      </p:sp>
      <p:sp>
        <p:nvSpPr>
          <p:cNvPr id="19" name="metric-detail-864">
            <a:extLst xmlns:a="http://schemas.openxmlformats.org/drawingml/2006/main">
              <a:ext uri="{FF2B5EF4-FFF2-40B4-BE49-F238E27FC236}">
                <a16:creationId xmlns:a16="http://schemas.microsoft.com/office/drawing/2014/main" id="{97880767-5B05-47E9-8CDA-008D650C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حق‌القدم بدون همکار امام ۲</a:t>
            </a:r>
          </a:p>
          <a:p xmlns:a="http://schemas.openxmlformats.org/drawingml/2006/main">
            <a:pPr algn="r">
              <a:defRPr sz="13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حق‌القدم با مدعو امام ۴</a:t>
            </a:r>
          </a:p>
        </p:txBody>
      </p:sp>
      <p:sp>
        <p:nvSpPr>
          <p:cNvPr id="20" name="method-footer">
            <a:extLst xmlns:a="http://schemas.openxmlformats.org/drawingml/2006/main">
              <a:ext uri="{FF2B5EF4-FFF2-40B4-BE49-F238E27FC236}">
                <a16:creationId xmlns:a16="http://schemas.microsoft.com/office/drawing/2014/main" id="{1DB1F989-9A82-4314-B8C3-30000F28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میدانی بازدیدهای با همراه تابعه، ادارات اعلامی اطلاعات گزارش: مبنای</a:t>
            </a:r>
          </a:p>
        </p:txBody>
      </p:sp>
      <p:sp>
        <p:nvSpPr>
          <p:cNvPr id="21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B9C4EE49-5DB0-4ADD-BD2C-2570B36A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</p:spTree>
    <p:extLst>
      <p:ext uri="{BB962C8B-B14F-4D97-AF65-F5344CB8AC3E}">
        <p14:creationId xmlns:p14="http://schemas.microsoft.com/office/powerpoint/2010/main" val="1465999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A4D582C-015C-4FFF-A1EE-9FE6DD31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تابعه ادارات نمازخانه‌های وضعیت گزارش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9B889-611F-44D5-8BD7-C25153F9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"/>
            <a:ext cx="1079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پیگیری نقاط و ادارات مقایسه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9ABEE3-8F9E-4CF7-96DC-A4E51A83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" name="table-intro">
            <a:extLst xmlns:a="http://schemas.openxmlformats.org/drawingml/2006/main">
              <a:ext uri="{FF2B5EF4-FFF2-40B4-BE49-F238E27FC236}">
                <a16:creationId xmlns:a16="http://schemas.microsoft.com/office/drawing/2014/main" id="{5FF4747C-6B94-42E8-98D7-A37D5599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950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613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تعدیل‌اند. نیازمند نهایی مقایسه برای علامت‌دار مقادیر است؛ تصمیم‌ساز شاخص‌های بر جدول تمرکز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1771650"/>
                <a:gridCol w="1428750"/>
                <a:gridCol w="1428750"/>
                <a:gridCol w="1524000"/>
                <a:gridCol w="1619250"/>
                <a:gridCol w="1190625"/>
              </a:tblGrid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حق‌القدم</a:t>
                      </a:r>
                    </a:p>
                  </a:txBody>
                  <a:tcPr marL="91440" marR="91440" marT="45720" marB="45720" anchor="ctr">
                    <a:solidFill>
                      <a:srgbClr val="1018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امام انتظام</a:t>
                      </a:r>
                    </a:p>
                  </a:txBody>
                  <a:tcPr marL="91440" marR="91440" marT="45720" marB="45720" anchor="ctr">
                    <a:solidFill>
                      <a:srgbClr val="1018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امام نوع</a:t>
                      </a:r>
                    </a:p>
                  </a:txBody>
                  <a:tcPr marL="91440" marR="91440" marT="45720" marB="45720" anchor="ctr">
                    <a:solidFill>
                      <a:srgbClr val="1018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(م²) فضا</a:t>
                      </a:r>
                    </a:p>
                  </a:txBody>
                  <a:tcPr marL="91440" marR="91440" marT="45720" marB="45720" anchor="ctr">
                    <a:solidFill>
                      <a:srgbClr val="1018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مشارکت</a:t>
                      </a:r>
                    </a:p>
                  </a:txBody>
                  <a:tcPr marL="91440" marR="91440" marT="45720" marB="45720" anchor="ctr">
                    <a:solidFill>
                      <a:srgbClr val="1018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نمازگزار</a:t>
                      </a:r>
                    </a:p>
                  </a:txBody>
                  <a:tcPr marL="91440" marR="91440" marT="45720" marB="45720" anchor="ctr">
                    <a:solidFill>
                      <a:srgbClr val="1018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اداره</a:t>
                      </a:r>
                    </a:p>
                  </a:txBody>
                  <a:tcPr marL="91440" marR="91440" marT="45720" marB="45720" anchor="ctr">
                    <a:solidFill>
                      <a:srgbClr val="101820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روز هر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همکار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۶۰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۴۰٪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۱۵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۱۰٫۵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نامنظم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مدعو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۸۰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۳۰٪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۴*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۲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روز هر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مدعو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۵۰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۵۰٪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۲۰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۶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روز هر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مدعو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۶۰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۶۰٪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۳۰*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۴</a:t>
                      </a:r>
                    </a:p>
                  </a:txBody>
                  <a:tcPr marL="91440" marR="91440" marT="45720" marB="45720" anchor="ctr">
                    <a:solidFill>
                      <a:srgbClr val="FFF3D6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روز هر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مدعو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۶۰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۳۵٪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۲۵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۰</a:t>
                      </a:r>
                    </a:p>
                  </a:txBody>
                  <a:tcPr marL="91440" marR="91440" marT="45720" marB="45720" anchor="ctr">
                    <a:solidFill>
                      <a:srgbClr val="F7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(۴) گاهی</a:t>
                      </a:r>
                    </a:p>
                  </a:txBody>
                  <a:tcPr marL="91440" marR="91440" marT="45720" marB="45720" anchor="ctr">
                    <a:solidFill>
                      <a:srgbClr val="F7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همکار</a:t>
                      </a:r>
                    </a:p>
                  </a:txBody>
                  <a:tcPr marL="91440" marR="91440" marT="45720" marB="45720" anchor="ctr">
                    <a:solidFill>
                      <a:srgbClr val="F7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۵۰</a:t>
                      </a:r>
                    </a:p>
                  </a:txBody>
                  <a:tcPr marL="91440" marR="91440" marT="45720" marB="45720" anchor="ctr">
                    <a:solidFill>
                      <a:srgbClr val="F7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۷۰٪</a:t>
                      </a:r>
                    </a:p>
                  </a:txBody>
                  <a:tcPr marL="91440" marR="91440" marT="45720" marB="45720" anchor="ctr">
                    <a:solidFill>
                      <a:srgbClr val="F7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۲۵</a:t>
                      </a:r>
                    </a:p>
                  </a:txBody>
                  <a:tcPr marL="91440" marR="91440" marT="45720" marB="45720" anchor="ctr">
                    <a:solidFill>
                      <a:srgbClr val="F7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01820"/>
                          </a:solidFill>
                          <a:latin typeface="Tahoma"/>
                          <a:ea typeface="Tahoma"/>
                          <a:cs typeface="Tahoma"/>
                        </a:rPr>
                        <a:t>۶</a:t>
                      </a:r>
                    </a:p>
                  </a:txBody>
                  <a:tcPr marL="91440" marR="91440" marT="45720" marB="45720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6" name="table-caveat">
            <a:extLst xmlns:a="http://schemas.openxmlformats.org/drawingml/2006/main">
              <a:ext uri="{FF2B5EF4-FFF2-40B4-BE49-F238E27FC236}">
                <a16:creationId xmlns:a16="http://schemas.microsoft.com/office/drawing/2014/main" id="{2978B190-8585-4C39-ADF9-87B26074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ble-caveat-text">
            <a:extLst xmlns:a="http://schemas.openxmlformats.org/drawingml/2006/main">
              <a:ext uri="{FF2B5EF4-FFF2-40B4-BE49-F238E27FC236}">
                <a16:creationId xmlns:a16="http://schemas.microsoft.com/office/drawing/2014/main" id="{207F2504-2E81-42D0-B1EA-6C238A79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054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4B00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7A4B00"/>
                </a:solidFill>
                <a:latin typeface="Tahoma"/>
                <a:ea typeface="Tahoma"/>
                <a:cs typeface="Tahoma"/>
              </a:rPr>
              <a:t>شود. تعدیل نماز بازه در حاضر کارکنان با نهایی مقایسه برای ۴ و ۲ ادارات اعداد ستاره: علامت</a:t>
            </a:r>
          </a:p>
        </p:txBody>
      </p:sp>
      <p:sp>
        <p:nvSpPr>
          <p:cNvPr id="8" name="method-footer">
            <a:extLst xmlns:a="http://schemas.openxmlformats.org/drawingml/2006/main">
              <a:ext uri="{FF2B5EF4-FFF2-40B4-BE49-F238E27FC236}">
                <a16:creationId xmlns:a16="http://schemas.microsoft.com/office/drawing/2014/main" id="{313DB387-04E1-473E-B56A-5FCB3D2B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میدانی بازدیدهای و تابعه ادارات اعلامی اطلاعات مبنا: | تومان میلیون حسب بر حق‌القدم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D13A062A-340A-4E54-AE17-1528E182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</p:spTree>
    <p:extLst>
      <p:ext uri="{BB962C8B-B14F-4D97-AF65-F5344CB8AC3E}">
        <p14:creationId xmlns:p14="http://schemas.microsoft.com/office/powerpoint/2010/main" val="784373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2026-08-13T05:45:31.7300000Z</dcterms:created>
  <dcterms:modified xsi:type="dcterms:W3CDTF">2026-08-13T05:45:31.7300000Z</dcterms:modified>
</coreProperties>
</file>