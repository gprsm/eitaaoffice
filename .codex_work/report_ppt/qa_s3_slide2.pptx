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c931369274b17" /><Relationship Type="http://schemas.openxmlformats.org/officeDocument/2006/relationships/extended-properties" Target="/docProps/app.xml" Id="Ra0500b89aa3f4a63" /><Relationship Type="http://schemas.openxmlformats.org/officeDocument/2006/relationships/officeDocument" Target="/ppt/presentation.xml" Id="R3b795398dd29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77461b1bc4489f"/>
  </p:sldMasterIdLst>
  <p:notesMasterIdLst>
    <p:notesMasterId xmlns:r="http://schemas.openxmlformats.org/officeDocument/2006/relationships" r:id="Rc40489a7948c4ffe"/>
  </p:notesMasterIdLst>
  <p:sldIdLst>
    <p:sldId xmlns:r="http://schemas.openxmlformats.org/officeDocument/2006/relationships" id="256" r:id="R4d4ea551b8d749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a5917964b2413d" /><Relationship Type="http://schemas.openxmlformats.org/officeDocument/2006/relationships/slideMaster" Target="/ppt/slideMasters/slideMaster1.xml" Id="Re277461b1bc4489f" /><Relationship Type="http://schemas.openxmlformats.org/officeDocument/2006/relationships/notesMaster" Target="/ppt/notesMasters/notesMaster1.xml" Id="Rc40489a7948c4ffe" /><Relationship Type="http://schemas.openxmlformats.org/officeDocument/2006/relationships/presProps" Target="/ppt/presProps.xml" Id="Rc3f943c08f244ad7" /><Relationship Type="http://schemas.openxmlformats.org/officeDocument/2006/relationships/tableStyles" Target="/ppt/tableStyles.xml" Id="R8b81cffb828b4f1f" /><Relationship Type="http://schemas.openxmlformats.org/officeDocument/2006/relationships/slide" Target="/ppt/slides/slide1.xml" Id="R4d4ea551b8d749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f983845bb43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fd1355a10c45c7" /><Relationship Type="http://schemas.openxmlformats.org/officeDocument/2006/relationships/notesMaster" Target="/ppt/notesMasters/notesMaster1.xml" Id="R412e9eb45fbc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04a4edc3548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ec765d74c4896" /><Relationship Type="http://schemas.openxmlformats.org/officeDocument/2006/relationships/slideLayout" Target="/ppt/slideLayouts/slideLayout1.xml" Id="R716d03262e0241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d03262e0241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ab9892bef4a54" /><Relationship Type="http://schemas.openxmlformats.org/officeDocument/2006/relationships/chart" Target="/ppt/slides/charts/chart1.xml" Id="R3d7c5b8068044459" /><Relationship Type="http://schemas.openxmlformats.org/officeDocument/2006/relationships/notesSlide" Target="/ppt/notesSlides/notesSlide1.xml" Id="R357817dc0587413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اداره هر در ثبت‌شده مشارکت نسبت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r">
            <a:defRPr sz="1650" b="1">
              <a:solidFill>
                <a:srgbClr val="101820"/>
              </a:solidFill>
              <a:latin typeface="Tahoma"/>
              <a:ea typeface="Tahoma"/>
              <a:cs typeface="Tahoma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مشارکت</c:v>
          </c:tx>
          <c:spPr>
            <a:solidFill xmlns:a="http://schemas.openxmlformats.org/drawingml/2006/main">
              <a:srgbClr val="3D8D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cat>
            <c:strLit>
              <c:ptCount val="6"/>
              <c:pt idx="0">
                <c:v>۶ اداره</c:v>
              </c:pt>
              <c:pt idx="1">
                <c:v>۵ اداره</c:v>
              </c:pt>
              <c:pt idx="2">
                <c:v>۴ اداره</c:v>
              </c:pt>
              <c:pt idx="3">
                <c:v>۳ اداره</c:v>
              </c:pt>
              <c:pt idx="4">
                <c:v>۲ اداره</c:v>
              </c:pt>
              <c:pt idx="5">
                <c:v>۱ اداره</c:v>
              </c:pt>
            </c:strLit>
          </c:cat>
          <c:val>
            <c:numLit>
              <c:formatCode>0"%"</c:formatCode>
              <c:ptCount val="6"/>
              <c:pt idx="0">
                <c:v>70</c:v>
              </c:pt>
              <c:pt idx="1">
                <c:v>35</c:v>
              </c:pt>
              <c:pt idx="2">
                <c:v>60</c:v>
              </c:pt>
              <c:pt idx="3">
                <c:v>50</c:v>
              </c:pt>
              <c:pt idx="4">
                <c:v>30</c:v>
              </c:pt>
              <c:pt idx="5">
                <c:v>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820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1A6D466C-6219-4733-940A-E0BBE6E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تابعه ادارات نمازخانه‌های وضعیت گزارش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841BC8-6417-412B-8E2C-6BFD02BF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"/>
            <a:ext cx="1079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نمازگزاران تعداد مکمل مشارکت؛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C387B3-830E-4DC0-8704-4D014B28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7c5b8068044459"/>
          </a:graphicData>
        </a:graphic>
      </p:graphicFrame>
      <p:sp>
        <p:nvSpPr>
          <p:cNvPr id="5" name="participation-top-panel">
            <a:extLst xmlns:a="http://schemas.openxmlformats.org/drawingml/2006/main">
              <a:ext uri="{FF2B5EF4-FFF2-40B4-BE49-F238E27FC236}">
                <a16:creationId xmlns:a16="http://schemas.microsoft.com/office/drawing/2014/main" id="{36F637CE-EBF4-434E-B7B8-64559232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ticipation-top-accent">
            <a:extLst xmlns:a="http://schemas.openxmlformats.org/drawingml/2006/main">
              <a:ext uri="{FF2B5EF4-FFF2-40B4-BE49-F238E27FC236}">
                <a16:creationId xmlns:a16="http://schemas.microsoft.com/office/drawing/2014/main" id="{CD685666-8558-4C39-B529-402DAE2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75260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rticipation-top-number">
            <a:extLst xmlns:a="http://schemas.openxmlformats.org/drawingml/2006/main">
              <a:ext uri="{FF2B5EF4-FFF2-40B4-BE49-F238E27FC236}">
                <a16:creationId xmlns:a16="http://schemas.microsoft.com/office/drawing/2014/main" id="{1C76C873-D414-4AB2-AABC-A711330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۷۰٪</a:t>
            </a:r>
          </a:p>
        </p:txBody>
      </p:sp>
      <p:sp>
        <p:nvSpPr>
          <p:cNvPr id="8" name="participation-top-label">
            <a:extLst xmlns:a="http://schemas.openxmlformats.org/drawingml/2006/main">
              <a:ext uri="{FF2B5EF4-FFF2-40B4-BE49-F238E27FC236}">
                <a16:creationId xmlns:a16="http://schemas.microsoft.com/office/drawing/2014/main" id="{D914E9C6-654D-4146-ADE4-43E69B9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مشارکت نسبت بالاترین</a:t>
            </a:r>
          </a:p>
        </p:txBody>
      </p:sp>
      <p:sp>
        <p:nvSpPr>
          <p:cNvPr id="9" name="participation-top-detail">
            <a:extLst xmlns:a="http://schemas.openxmlformats.org/drawingml/2006/main">
              <a:ext uri="{FF2B5EF4-FFF2-40B4-BE49-F238E27FC236}">
                <a16:creationId xmlns:a16="http://schemas.microsoft.com/office/drawing/2014/main" id="{5A424070-1342-41E6-B061-E34C1D3F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همکار جماعت امام ۶؛ اداره</a:t>
            </a:r>
          </a:p>
        </p:txBody>
      </p:sp>
      <p:sp>
        <p:nvSpPr>
          <p:cNvPr id="10" name="participation-mid-panel">
            <a:extLst xmlns:a="http://schemas.openxmlformats.org/drawingml/2006/main">
              <a:ext uri="{FF2B5EF4-FFF2-40B4-BE49-F238E27FC236}">
                <a16:creationId xmlns:a16="http://schemas.microsoft.com/office/drawing/2014/main" id="{B119B162-F564-4BF6-B0D4-7E2CDA25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rticipation-mid-accent">
            <a:extLst xmlns:a="http://schemas.openxmlformats.org/drawingml/2006/main">
              <a:ext uri="{FF2B5EF4-FFF2-40B4-BE49-F238E27FC236}">
                <a16:creationId xmlns:a16="http://schemas.microsoft.com/office/drawing/2014/main" id="{4E5AB828-9B3A-4359-B43A-B4E4332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10515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cipation-mid-number">
            <a:extLst xmlns:a="http://schemas.openxmlformats.org/drawingml/2006/main">
              <a:ext uri="{FF2B5EF4-FFF2-40B4-BE49-F238E27FC236}">
                <a16:creationId xmlns:a16="http://schemas.microsoft.com/office/drawing/2014/main" id="{967A4061-BE59-4EE2-8C5E-1769DB28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۵۰٪+</a:t>
            </a:r>
          </a:p>
        </p:txBody>
      </p:sp>
      <p:sp>
        <p:nvSpPr>
          <p:cNvPr id="13" name="participation-mid-label">
            <a:extLst xmlns:a="http://schemas.openxmlformats.org/drawingml/2006/main">
              <a:ext uri="{FF2B5EF4-FFF2-40B4-BE49-F238E27FC236}">
                <a16:creationId xmlns:a16="http://schemas.microsoft.com/office/drawing/2014/main" id="{F172043B-EBE6-497F-B711-B315A7BF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433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اداره سه در</a:t>
            </a:r>
          </a:p>
        </p:txBody>
      </p:sp>
      <p:sp>
        <p:nvSpPr>
          <p:cNvPr id="14" name="participation-mid-detail">
            <a:extLst xmlns:a="http://schemas.openxmlformats.org/drawingml/2006/main">
              <a:ext uri="{FF2B5EF4-FFF2-40B4-BE49-F238E27FC236}">
                <a16:creationId xmlns:a16="http://schemas.microsoft.com/office/drawing/2014/main" id="{19D3BFE8-274D-4107-A82E-223BA409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۶ و ۴ ۳، ادارات</a:t>
            </a:r>
          </a:p>
        </p:txBody>
      </p:sp>
      <p:sp>
        <p:nvSpPr>
          <p:cNvPr id="15" name="participation-low-panel">
            <a:extLst xmlns:a="http://schemas.openxmlformats.org/drawingml/2006/main">
              <a:ext uri="{FF2B5EF4-FFF2-40B4-BE49-F238E27FC236}">
                <a16:creationId xmlns:a16="http://schemas.microsoft.com/office/drawing/2014/main" id="{8F56AE9D-7586-44C3-BB15-277E6CB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rticipation-low-accent">
            <a:extLst xmlns:a="http://schemas.openxmlformats.org/drawingml/2006/main">
              <a:ext uri="{FF2B5EF4-FFF2-40B4-BE49-F238E27FC236}">
                <a16:creationId xmlns:a16="http://schemas.microsoft.com/office/drawing/2014/main" id="{1E53D46C-962C-429A-AC93-CA8EBB38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45770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icipation-low-number">
            <a:extLst xmlns:a="http://schemas.openxmlformats.org/drawingml/2006/main">
              <a:ext uri="{FF2B5EF4-FFF2-40B4-BE49-F238E27FC236}">
                <a16:creationId xmlns:a16="http://schemas.microsoft.com/office/drawing/2014/main" id="{B4518729-18CC-4645-9B88-B97A9135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۳۰٪</a:t>
            </a:r>
          </a:p>
        </p:txBody>
      </p:sp>
      <p:sp>
        <p:nvSpPr>
          <p:cNvPr id="18" name="participation-low-label">
            <a:extLst xmlns:a="http://schemas.openxmlformats.org/drawingml/2006/main">
              <a:ext uri="{FF2B5EF4-FFF2-40B4-BE49-F238E27FC236}">
                <a16:creationId xmlns:a16="http://schemas.microsoft.com/office/drawing/2014/main" id="{3A90D63A-2E4E-4708-A831-FA9850E0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958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ثبت‌شده نسبت کمترین</a:t>
            </a:r>
          </a:p>
        </p:txBody>
      </p:sp>
      <p:sp>
        <p:nvSpPr>
          <p:cNvPr id="19" name="participation-low-detail">
            <a:extLst xmlns:a="http://schemas.openxmlformats.org/drawingml/2006/main">
              <a:ext uri="{FF2B5EF4-FFF2-40B4-BE49-F238E27FC236}">
                <a16:creationId xmlns:a16="http://schemas.microsoft.com/office/drawing/2014/main" id="{2C49981E-8D48-4AB6-BAA0-6EE37F0C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امام نامنظم حضور با همراه ۲؛ اداره</a:t>
            </a:r>
          </a:p>
        </p:txBody>
      </p:sp>
      <p:sp>
        <p:nvSpPr>
          <p:cNvPr id="20" name="ratio-note">
            <a:extLst xmlns:a="http://schemas.openxmlformats.org/drawingml/2006/main">
              <a:ext uri="{FF2B5EF4-FFF2-40B4-BE49-F238E27FC236}">
                <a16:creationId xmlns:a16="http://schemas.microsoft.com/office/drawing/2014/main" id="{D7F113E3-37DA-4DFD-948A-FC14810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tio-note-text">
            <a:extLst xmlns:a="http://schemas.openxmlformats.org/drawingml/2006/main">
              <a:ext uri="{FF2B5EF4-FFF2-40B4-BE49-F238E27FC236}">
                <a16:creationId xmlns:a16="http://schemas.microsoft.com/office/drawing/2014/main" id="{EB2A812D-FCF2-4703-9E16-8FC10394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A4B00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A4B00"/>
                </a:solidFill>
                <a:latin typeface="Tahoma"/>
                <a:ea typeface="Tahoma"/>
                <a:cs typeface="Tahoma"/>
              </a:rPr>
              <a:t>شود. محاسبه دوباره حاضر، کارکنان شمارش تثبیت از پس ۴ و ۲ ادارات نسبت‌های</a:t>
            </a:r>
          </a:p>
        </p:txBody>
      </p:sp>
      <p:sp>
        <p:nvSpPr>
          <p:cNvPr id="2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AF42DE1D-93DA-456B-9021-126E649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</p:spTree>
    <p:extLst>
      <p:ext uri="{BB962C8B-B14F-4D97-AF65-F5344CB8AC3E}">
        <p14:creationId xmlns:p14="http://schemas.microsoft.com/office/powerpoint/2010/main" val="739942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2026-08-13T05:49:39.4540000Z</dcterms:created>
  <dcterms:modified xsi:type="dcterms:W3CDTF">2026-08-13T05:49:39.4540000Z</dcterms:modified>
</coreProperties>
</file>